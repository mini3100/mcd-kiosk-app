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70" r:id="rId2"/>
    <p:sldId id="361" r:id="rId3"/>
    <p:sldId id="363" r:id="rId4"/>
    <p:sldId id="366" r:id="rId5"/>
    <p:sldId id="373" r:id="rId6"/>
    <p:sldId id="378" r:id="rId7"/>
    <p:sldId id="380" r:id="rId8"/>
    <p:sldId id="381" r:id="rId9"/>
    <p:sldId id="382" r:id="rId10"/>
    <p:sldId id="336" r:id="rId11"/>
  </p:sldIdLst>
  <p:sldSz cx="12192000" cy="6858000"/>
  <p:notesSz cx="6858000" cy="9144000"/>
  <p:embeddedFontLst>
    <p:embeddedFont>
      <p:font typeface="맑은 고딕" panose="020B0503020000020004" pitchFamily="50" charset="-127"/>
      <p:regular r:id="rId13"/>
      <p:bold r:id="rId14"/>
    </p:embeddedFont>
    <p:embeddedFont>
      <p:font typeface="예스체" panose="020B0500000101010101" pitchFamily="50" charset="-127"/>
      <p:regular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B2C7DA"/>
    <a:srgbClr val="CAB5BD"/>
    <a:srgbClr val="21345C"/>
    <a:srgbClr val="A27D8B"/>
    <a:srgbClr val="6D8CAC"/>
    <a:srgbClr val="326393"/>
    <a:srgbClr val="2A345C"/>
    <a:srgbClr val="333F50"/>
    <a:srgbClr val="1C224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9663" autoAdjust="0"/>
  </p:normalViewPr>
  <p:slideViewPr>
    <p:cSldViewPr snapToGrid="0">
      <p:cViewPr varScale="1">
        <p:scale>
          <a:sx n="103" d="100"/>
          <a:sy n="103" d="100"/>
        </p:scale>
        <p:origin x="348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18E4B-171C-42CB-ACD7-ADB3147BE52C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74EC6-3D2A-46FB-B4A2-C8896DC1E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00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/>
              <a:t> 학기 동안 </a:t>
            </a:r>
            <a:r>
              <a:rPr lang="en-US" altLang="ko-KR" sz="1200" dirty="0" smtClean="0"/>
              <a:t>C#</a:t>
            </a:r>
            <a:r>
              <a:rPr lang="ko-KR" altLang="en-US" sz="1200" dirty="0" smtClean="0"/>
              <a:t>의 </a:t>
            </a:r>
            <a:r>
              <a:rPr lang="en-US" altLang="ko-KR" sz="1200" dirty="0" err="1" smtClean="0"/>
              <a:t>Winform</a:t>
            </a:r>
            <a:r>
              <a:rPr lang="ko-KR" altLang="en-US" sz="1200" dirty="0" smtClean="0"/>
              <a:t>을 배우면서 어떤 것을 가장 잘 구현할 수 있을까 생각해봤을 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일상생활에서 흔하게 볼 수 있는 </a:t>
            </a:r>
            <a:r>
              <a:rPr lang="ko-KR" altLang="en-US" sz="1200" dirty="0" err="1" smtClean="0"/>
              <a:t>키오스크가</a:t>
            </a:r>
            <a:r>
              <a:rPr lang="ko-KR" altLang="en-US" sz="1200" dirty="0" smtClean="0"/>
              <a:t> 가장 친숙하고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넣을 내용이 명확하게 떠올랐기 때문에 주제로 선정하게 되었습니다</a:t>
            </a:r>
            <a:r>
              <a:rPr lang="en-US" altLang="ko-KR" sz="1200" dirty="0" smtClean="0"/>
              <a:t>. </a:t>
            </a:r>
            <a:endParaRPr lang="ko-KR" altLang="en-US" sz="120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893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88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741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195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457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3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0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74EC6-3D2A-46FB-B4A2-C8896DC1EB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0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116CC-20FF-457A-B0DD-F02EE2901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A0D387-B42B-4157-90E6-FCD3174B4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A7E609-556E-4234-8CFC-AE6C7023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F3B6F-BEB4-4451-A4BA-A0659F2A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3703B4-E0EB-4B00-9BF7-03ABD79F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257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F7C35-D8F4-4D64-91F6-455403D3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8CDA9-0970-49A3-82F4-FCFFA63B9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0BDF5-6D16-4A9A-893B-53B11095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635E5-1D8E-4820-93F8-0955606D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1AF3B-8956-4150-8701-B7C6F2B2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46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787C-EA13-4181-B0B0-B98FD158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5F5F3-03E8-4DE0-BFC5-1307CAE6E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CEA32-CCEE-47B8-A526-80A2933D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64C28-B02D-443E-89E1-FB3F1254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FB7F4-ECD7-4A68-980A-73D9C75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654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298D1-822F-4AE9-BE1F-7EF054CE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596DE-FD94-42CD-A453-C87AAFCB7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5D48B6-4014-4E1E-AD68-C67E693F6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A6CCBA-5D70-4B89-BACA-6C91A0FF7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4A065-E00B-4A73-9BB7-B46AC396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6E1E2D-C422-4C81-9EA7-ABA7416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11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5702F-9D39-4A23-8B2B-227C8FB4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B61F52-FB13-4AA5-8614-96CB85DA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7BAFA-DA5C-41E6-89B9-049ECF13E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8F1D0D-16C1-4524-9BFD-F88D9AADB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C66BD1-687F-4EBD-B80D-A9CE917A7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9544E4-0FB8-47A2-9B6E-896DFDF6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BAF11A-F1C3-474D-991B-EFCEF7C8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39CBAC-49D8-4D2D-A0EB-0A7DD653A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194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59595-4D21-46F7-9AA9-99350F31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D291C2-6C24-4F10-AC19-A3D48780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E207B8-FB3D-49E3-8ED2-E499A63D1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55E8C-A92C-4F29-8A88-562EE761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362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906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B4CB0-4A60-4814-AC63-C1247AED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4A438-B8E1-4575-B473-2A07818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692F2-49E5-485C-9831-B4ACBBB2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076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764F0-5601-4A14-A10F-2AABF340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9E9D1-8F1D-4F21-A822-6C7960A96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A7961-D3A0-4BA3-B7D1-830E64EFA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B9528-22B9-4F6F-91C9-6F720DCC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BC077-8A76-446B-8054-77AD1824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5B9B4-BE00-4DC7-A442-DC65D42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786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538A9-CADF-4633-A090-47B42B8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BC4E6F-A0DE-4AE3-90F2-1C03418AC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04145D-ADF1-4464-BC28-593BAE746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D674B-36F7-4FB8-8FD7-4A82F078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B7B17-18E4-4B63-A6C1-BC60814A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71BA4A-3D6F-4036-B650-4BE22EBF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207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B3392-1D66-4FC7-9B67-9373E330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3E0133-FB9E-4A82-B101-5823D201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6BE29-E9E7-4C46-9EA7-89CB1D5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F291-3561-4887-8CBA-2D73801A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223DB-3883-49FB-AC9D-6E713866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86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D0D848-B156-4FC0-9045-C4FA3355A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BE1A0F-E622-4956-B3AE-75C0FFAC3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3557E-01F2-4719-81E9-5B6B18E3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B3DD90-F3E1-4BF3-9279-442F300C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03D7F-961F-467A-AB56-CD0F56F5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348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F2D1CD-6AB9-44F7-9AF1-904E917CB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E6583-9D58-4FBE-8B3E-D816FF62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C4F44-3451-43BF-BB78-2BFFC41D5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7A9D4-2312-4C80-955C-3A7FA2F8832A}" type="datetimeFigureOut">
              <a:rPr lang="ko-KR" altLang="en-US" smtClean="0"/>
              <a:t>2021-12-12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56AF17-214F-4E1E-9255-3368B9888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45F63D-B78D-4305-AB08-518043957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5EC94-8EAF-486A-983B-99B1085AE8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74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D96CB-D837-42E6-B753-A362CB784AC7}"/>
              </a:ext>
            </a:extLst>
          </p:cNvPr>
          <p:cNvSpPr txBox="1"/>
          <p:nvPr/>
        </p:nvSpPr>
        <p:spPr>
          <a:xfrm>
            <a:off x="2202264" y="2297166"/>
            <a:ext cx="778747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비주얼</a:t>
            </a:r>
            <a:r>
              <a:rPr lang="ko-KR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 프로그래밍 프로젝트</a:t>
            </a:r>
            <a:endParaRPr lang="en-US" altLang="ko-KR" sz="3200" dirty="0" smtClean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  <a:p>
            <a:pPr algn="ctr"/>
            <a:r>
              <a:rPr lang="en-US" altLang="ko-KR" sz="54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-</a:t>
            </a:r>
            <a:r>
              <a:rPr lang="ko-KR" altLang="en-US" sz="5400" dirty="0" err="1" smtClean="0">
                <a:latin typeface="예스체" panose="020B0500000101010101" pitchFamily="50" charset="-127"/>
                <a:ea typeface="예스체" panose="020B0500000101010101" pitchFamily="50" charset="-127"/>
              </a:rPr>
              <a:t>키오스크</a:t>
            </a:r>
            <a:endParaRPr lang="ko-KR" altLang="en-US" sz="54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67F781-4111-4EB6-97E9-84D738AD6180}"/>
              </a:ext>
            </a:extLst>
          </p:cNvPr>
          <p:cNvCxnSpPr>
            <a:cxnSpLocks/>
          </p:cNvCxnSpPr>
          <p:nvPr/>
        </p:nvCxnSpPr>
        <p:spPr>
          <a:xfrm>
            <a:off x="1125415" y="3673455"/>
            <a:ext cx="9586128" cy="0"/>
          </a:xfrm>
          <a:prstGeom prst="line">
            <a:avLst/>
          </a:prstGeom>
          <a:ln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00961E7-5079-4C40-88CA-C2ABE8F1C792}"/>
              </a:ext>
            </a:extLst>
          </p:cNvPr>
          <p:cNvSpPr txBox="1"/>
          <p:nvPr/>
        </p:nvSpPr>
        <p:spPr>
          <a:xfrm>
            <a:off x="5085955" y="3926224"/>
            <a:ext cx="2020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컴퓨터 공학과</a:t>
            </a:r>
            <a:endParaRPr lang="en-US" altLang="ko-KR" dirty="0" smtClean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  <a:p>
            <a:pPr algn="ctr"/>
            <a:r>
              <a:rPr lang="en-US" altLang="ko-K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20203089 </a:t>
            </a:r>
            <a:r>
              <a:rPr lang="ko-KR" alt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정가영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24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717799" y="729811"/>
            <a:ext cx="2176126" cy="5965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1970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구현 목표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693336" y="777771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1. 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선정 계기</a:t>
            </a:r>
            <a:endParaRPr lang="ko-KR" altLang="en-US" sz="28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43" y="1698171"/>
            <a:ext cx="4125686" cy="41256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948" y="1748411"/>
            <a:ext cx="3067468" cy="40899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08558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57025" y="719763"/>
            <a:ext cx="4376715" cy="59656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1970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 startAt="2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기본 이론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612950" y="777772"/>
            <a:ext cx="427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1. 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폼 두개를 연결하는 방법</a:t>
            </a:r>
            <a:endParaRPr lang="ko-KR" altLang="en-US" sz="28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231776" y="1939985"/>
            <a:ext cx="9697826" cy="370151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1410463" y="2914021"/>
            <a:ext cx="9371074" cy="256232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1514295" y="2160393"/>
            <a:ext cx="582803" cy="60479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7195" y="2220685"/>
            <a:ext cx="313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모달</a:t>
            </a:r>
            <a:r>
              <a:rPr lang="en-US" altLang="ko-KR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(Modal) </a:t>
            </a:r>
            <a:r>
              <a:rPr lang="ko-KR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대화상자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527694" y="3020594"/>
            <a:ext cx="884433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ko-KR" alt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대화상자가 종료되기 전에</a:t>
            </a:r>
            <a:r>
              <a:rPr lang="en-US" altLang="ko-KR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, </a:t>
            </a:r>
            <a:r>
              <a:rPr lang="ko-KR" altLang="en-US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대화상자를 띄운 애플리케이션으로 돌아갈 수 없음</a:t>
            </a:r>
            <a:endParaRPr lang="ko-KR" altLang="en-US" sz="2000" kern="0" spc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638" y="3790740"/>
            <a:ext cx="4589220" cy="449664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1231776" y="1939985"/>
            <a:ext cx="9730633" cy="3701510"/>
            <a:chOff x="1231776" y="1939985"/>
            <a:chExt cx="9730633" cy="3701510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1231776" y="1939985"/>
              <a:ext cx="9697826" cy="370151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410463" y="2914021"/>
              <a:ext cx="9371074" cy="25623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1514295" y="2160393"/>
              <a:ext cx="582803" cy="6047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17195" y="2220685"/>
              <a:ext cx="48549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Form2</a:t>
              </a:r>
              <a:r>
                <a:rPr lang="ko-KR" alt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에서 </a:t>
              </a:r>
              <a:r>
                <a:rPr lang="en-US" altLang="ko-KR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Form1</a:t>
              </a:r>
              <a:r>
                <a:rPr lang="ko-KR" alt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의 내용 불러오기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594953" y="3010273"/>
              <a:ext cx="6367456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 fontAlgn="base">
                <a:lnSpc>
                  <a:spcPct val="150000"/>
                </a:lnSpc>
                <a:buFontTx/>
                <a:buChar char="-"/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폼을 </a:t>
              </a:r>
              <a:r>
                <a:rPr lang="ko-KR" altLang="en-US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초기화 할 때 </a:t>
              </a:r>
              <a:r>
                <a:rPr lang="en-US" altLang="ko-KR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Form1</a:t>
              </a:r>
              <a:r>
                <a:rPr lang="ko-KR" altLang="en-US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을 같이 불러와준다</a:t>
              </a:r>
              <a:r>
                <a:rPr lang="en-US" altLang="ko-KR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.</a:t>
              </a:r>
            </a:p>
            <a:p>
              <a:pPr marL="342900" indent="-342900" algn="just" fontAlgn="base">
                <a:lnSpc>
                  <a:spcPct val="150000"/>
                </a:lnSpc>
                <a:buFontTx/>
                <a:buChar char="-"/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불러오는 </a:t>
              </a:r>
              <a:r>
                <a:rPr lang="ko-KR" altLang="en-US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요소는 </a:t>
              </a:r>
              <a:r>
                <a:rPr lang="en-US" altLang="ko-KR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public</a:t>
              </a:r>
              <a:r>
                <a:rPr lang="ko-KR" altLang="en-US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으로 선언하는 것이 필요하다</a:t>
              </a:r>
              <a:r>
                <a:rPr lang="en-US" altLang="ko-KR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.</a:t>
              </a:r>
              <a:endParaRPr lang="ko-KR" altLang="en-US" sz="2000" kern="0" spc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1768" y="3252260"/>
              <a:ext cx="2895150" cy="1665352"/>
            </a:xfrm>
            <a:prstGeom prst="rect">
              <a:avLst/>
            </a:prstGeom>
          </p:spPr>
        </p:pic>
      </p:grpSp>
      <p:grpSp>
        <p:nvGrpSpPr>
          <p:cNvPr id="19" name="그룹 18"/>
          <p:cNvGrpSpPr/>
          <p:nvPr/>
        </p:nvGrpSpPr>
        <p:grpSpPr>
          <a:xfrm>
            <a:off x="1247087" y="1578244"/>
            <a:ext cx="9697826" cy="4993377"/>
            <a:chOff x="1247087" y="1578244"/>
            <a:chExt cx="9697826" cy="4993377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1247087" y="1578244"/>
              <a:ext cx="9697826" cy="4993377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1425774" y="2552280"/>
              <a:ext cx="9371074" cy="378822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1529606" y="1798653"/>
              <a:ext cx="582803" cy="6047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32506" y="1858945"/>
              <a:ext cx="34711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System.IO namespace</a:t>
              </a:r>
              <a:endPara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1460353" y="2644244"/>
              <a:ext cx="9301916" cy="5049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 fontAlgn="base">
                <a:lnSpc>
                  <a:spcPct val="150000"/>
                </a:lnSpc>
                <a:buFontTx/>
                <a:buChar char="-"/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파일과 </a:t>
              </a:r>
              <a:r>
                <a:rPr lang="ko-KR" altLang="en-US" sz="20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관련된 여러 가지 동작을 수행할 수 있는 다양한 클래스 </a:t>
              </a: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존재</a:t>
              </a:r>
            </a:p>
          </p:txBody>
        </p: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44098" y="3429000"/>
              <a:ext cx="4740894" cy="2130476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>
            <a:xfrm>
              <a:off x="6323755" y="3308419"/>
              <a:ext cx="4357642" cy="24699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en-US" altLang="ko-KR" b="1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FileStream</a:t>
              </a:r>
              <a:r>
                <a:rPr lang="en-US" altLang="ko-KR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 </a:t>
              </a:r>
              <a:r>
                <a:rPr lang="ko-KR" altLang="en-US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클래스</a:t>
              </a:r>
              <a:endParaRPr lang="en-US" altLang="ko-KR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marL="285750" indent="-285750" algn="just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700" kern="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FileStream</a:t>
              </a:r>
              <a:r>
                <a:rPr lang="en-US" altLang="ko-KR" sz="17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 </a:t>
              </a:r>
              <a:r>
                <a:rPr lang="ko-KR" altLang="en-US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클래스는 파일에서 읽고 쓰는 것을 </a:t>
              </a:r>
              <a:r>
                <a:rPr lang="ko-KR" altLang="en-US" sz="17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지원하는 </a:t>
              </a:r>
              <a:r>
                <a:rPr lang="ko-KR" altLang="en-US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클래스로 추상클래스인 </a:t>
              </a:r>
              <a:r>
                <a:rPr lang="en-US" altLang="ko-KR" sz="17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Stream </a:t>
              </a:r>
              <a:r>
                <a:rPr lang="ko-KR" altLang="en-US" sz="17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클래스에서 </a:t>
              </a:r>
              <a:r>
                <a:rPr lang="ko-KR" altLang="en-US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상속된 클래스</a:t>
              </a:r>
            </a:p>
            <a:p>
              <a:pPr marL="285750" indent="-285750" algn="just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7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새로운 </a:t>
              </a:r>
              <a:r>
                <a:rPr lang="ko-KR" altLang="en-US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파일을 생성하거나</a:t>
              </a:r>
              <a:r>
                <a:rPr lang="en-US" altLang="ko-KR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, </a:t>
              </a:r>
              <a:r>
                <a:rPr lang="ko-KR" altLang="en-US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존재하는 파일을 열려면</a:t>
              </a:r>
              <a:r>
                <a:rPr lang="en-US" altLang="ko-KR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, </a:t>
              </a:r>
              <a:r>
                <a:rPr lang="en-US" altLang="ko-KR" sz="1700" kern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FileStream</a:t>
              </a:r>
              <a:r>
                <a:rPr lang="en-US" altLang="ko-KR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 </a:t>
              </a:r>
              <a:r>
                <a:rPr lang="ko-KR" altLang="en-US" sz="17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객체를 생성할 필요</a:t>
              </a:r>
              <a:endParaRPr lang="ko-KR" altLang="en-US" sz="17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2371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57025" y="719763"/>
            <a:ext cx="2246465" cy="5965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설계된 시스템 구성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612950" y="777772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1. 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화면 구성</a:t>
            </a:r>
            <a:endParaRPr lang="ko-KR" altLang="en-US" sz="28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06081" y="-188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181655808" descr="EMB0000859468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081" y="268287"/>
            <a:ext cx="3779838" cy="632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그룹 12"/>
          <p:cNvGrpSpPr/>
          <p:nvPr/>
        </p:nvGrpSpPr>
        <p:grpSpPr>
          <a:xfrm>
            <a:off x="5157216" y="557784"/>
            <a:ext cx="6821424" cy="5093208"/>
            <a:chOff x="5157216" y="557784"/>
            <a:chExt cx="6821424" cy="5093208"/>
          </a:xfrm>
        </p:grpSpPr>
        <p:sp>
          <p:nvSpPr>
            <p:cNvPr id="14" name="직사각형 13"/>
            <p:cNvSpPr/>
            <p:nvPr/>
          </p:nvSpPr>
          <p:spPr>
            <a:xfrm>
              <a:off x="5157216" y="557784"/>
              <a:ext cx="2779776" cy="5093208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293969" y="559412"/>
              <a:ext cx="3684671" cy="21236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메뉴 탭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메뉴를 한 눈에 볼 수 있도록 사진과 이름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가격을 배치했다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메뉴 사진을 클릭하면 메뉴를 담을 수 있다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algn="just" fontAlgn="base">
                <a:lnSpc>
                  <a:spcPct val="150000"/>
                </a:lnSpc>
              </a:pPr>
              <a:endParaRPr lang="ko-KR" altLang="en-US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cxnSp>
          <p:nvCxnSpPr>
            <p:cNvPr id="16" name="직선 화살표 연결선 15"/>
            <p:cNvCxnSpPr/>
            <p:nvPr/>
          </p:nvCxnSpPr>
          <p:spPr>
            <a:xfrm>
              <a:off x="7936992" y="832104"/>
              <a:ext cx="384048" cy="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/>
          <p:cNvGrpSpPr/>
          <p:nvPr/>
        </p:nvGrpSpPr>
        <p:grpSpPr>
          <a:xfrm>
            <a:off x="283464" y="1517904"/>
            <a:ext cx="4882896" cy="1672765"/>
            <a:chOff x="283464" y="1517904"/>
            <a:chExt cx="4882896" cy="1672765"/>
          </a:xfrm>
        </p:grpSpPr>
        <p:sp>
          <p:nvSpPr>
            <p:cNvPr id="18" name="직사각형 17"/>
            <p:cNvSpPr/>
            <p:nvPr/>
          </p:nvSpPr>
          <p:spPr>
            <a:xfrm>
              <a:off x="4251960" y="1517904"/>
              <a:ext cx="914400" cy="1408176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83464" y="1528676"/>
              <a:ext cx="3566160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탭 전환 버튼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버거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사이드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&amp;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디저트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음료로 탭을 나눠 볼 수 있게 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버튼을 누르면 탭을 전환할 수 있다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 flipH="1">
              <a:off x="3877056" y="1856232"/>
              <a:ext cx="365760" cy="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그룹 20"/>
          <p:cNvGrpSpPr/>
          <p:nvPr/>
        </p:nvGrpSpPr>
        <p:grpSpPr>
          <a:xfrm>
            <a:off x="1271016" y="4683356"/>
            <a:ext cx="3886200" cy="2031325"/>
            <a:chOff x="1271016" y="4683356"/>
            <a:chExt cx="3886200" cy="2031325"/>
          </a:xfrm>
        </p:grpSpPr>
        <p:sp>
          <p:nvSpPr>
            <p:cNvPr id="22" name="직사각형 21"/>
            <p:cNvSpPr/>
            <p:nvPr/>
          </p:nvSpPr>
          <p:spPr>
            <a:xfrm>
              <a:off x="4242816" y="5193792"/>
              <a:ext cx="914400" cy="438912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1271016" y="4683356"/>
              <a:ext cx="2596896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총액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메뉴를 담으면 가격과 개수를 곱해서 총액에 더한다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메뉴를 삭제하면 가격과 개수를 곱해서 총액에 뺀다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ko-KR" altLang="en-US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</p:txBody>
        </p:sp>
        <p:cxnSp>
          <p:nvCxnSpPr>
            <p:cNvPr id="24" name="직선 화살표 연결선 23"/>
            <p:cNvCxnSpPr/>
            <p:nvPr/>
          </p:nvCxnSpPr>
          <p:spPr>
            <a:xfrm flipH="1">
              <a:off x="3867912" y="5367528"/>
              <a:ext cx="365760" cy="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/>
          <p:cNvGrpSpPr/>
          <p:nvPr/>
        </p:nvGrpSpPr>
        <p:grpSpPr>
          <a:xfrm>
            <a:off x="530352" y="4683356"/>
            <a:ext cx="6601968" cy="2031325"/>
            <a:chOff x="530352" y="4683356"/>
            <a:chExt cx="6601968" cy="2031325"/>
          </a:xfrm>
        </p:grpSpPr>
        <p:sp>
          <p:nvSpPr>
            <p:cNvPr id="26" name="직사각형 25"/>
            <p:cNvSpPr/>
            <p:nvPr/>
          </p:nvSpPr>
          <p:spPr>
            <a:xfrm>
              <a:off x="4224528" y="5650992"/>
              <a:ext cx="2907792" cy="91440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530352" y="4683356"/>
              <a:ext cx="333756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고른 메뉴를 확인하는 부분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메뉴의 이름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가격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개수를 한 눈에 확인할 수 있도록 </a:t>
              </a:r>
              <a:r>
                <a:rPr lang="en-US" altLang="ko-KR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ListView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로 배치했다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메뉴의 이름을 클릭하면 메뉴가 삭제되고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총액에서 해당 금액이 차감된다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  <p:cxnSp>
          <p:nvCxnSpPr>
            <p:cNvPr id="28" name="직선 화살표 연결선 27"/>
            <p:cNvCxnSpPr/>
            <p:nvPr/>
          </p:nvCxnSpPr>
          <p:spPr>
            <a:xfrm flipH="1">
              <a:off x="3849624" y="5824728"/>
              <a:ext cx="365760" cy="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/>
          <p:cNvGrpSpPr/>
          <p:nvPr/>
        </p:nvGrpSpPr>
        <p:grpSpPr>
          <a:xfrm>
            <a:off x="7104888" y="5451452"/>
            <a:ext cx="4489704" cy="1292662"/>
            <a:chOff x="7104888" y="5451452"/>
            <a:chExt cx="4489704" cy="1292662"/>
          </a:xfrm>
        </p:grpSpPr>
        <p:sp>
          <p:nvSpPr>
            <p:cNvPr id="30" name="직사각형 29"/>
            <p:cNvSpPr/>
            <p:nvPr/>
          </p:nvSpPr>
          <p:spPr>
            <a:xfrm>
              <a:off x="7104888" y="6099048"/>
              <a:ext cx="822960" cy="45720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257032" y="5451452"/>
              <a:ext cx="333756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비우기 버튼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담은 메뉴를 초기화하는 버튼으로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altLang="ko-KR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ListView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의 항목들이 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Clear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>
              <a:off x="7927848" y="6181344"/>
              <a:ext cx="329184" cy="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/>
          <p:cNvGrpSpPr/>
          <p:nvPr/>
        </p:nvGrpSpPr>
        <p:grpSpPr>
          <a:xfrm>
            <a:off x="7104888" y="5027843"/>
            <a:ext cx="4965192" cy="1661993"/>
            <a:chOff x="7104888" y="5027843"/>
            <a:chExt cx="4965192" cy="1661993"/>
          </a:xfrm>
        </p:grpSpPr>
        <p:sp>
          <p:nvSpPr>
            <p:cNvPr id="38" name="직사각형 37"/>
            <p:cNvSpPr/>
            <p:nvPr/>
          </p:nvSpPr>
          <p:spPr>
            <a:xfrm>
              <a:off x="7104888" y="5650992"/>
              <a:ext cx="822960" cy="45720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8257032" y="5027843"/>
              <a:ext cx="3813048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결제 버튼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담은 메뉴가 없으면 메시지 박스가 출력된다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담은 메뉴가 있으면 </a:t>
              </a:r>
              <a:r>
                <a:rPr lang="ko-KR" alt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결제창인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Form2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를 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Modal 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방식으로 띄운다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  <p:cxnSp>
          <p:nvCxnSpPr>
            <p:cNvPr id="40" name="직선 화살표 연결선 39"/>
            <p:cNvCxnSpPr/>
            <p:nvPr/>
          </p:nvCxnSpPr>
          <p:spPr>
            <a:xfrm>
              <a:off x="7936992" y="5742432"/>
              <a:ext cx="329184" cy="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/>
          <p:cNvGrpSpPr/>
          <p:nvPr/>
        </p:nvGrpSpPr>
        <p:grpSpPr>
          <a:xfrm>
            <a:off x="8183880" y="2651760"/>
            <a:ext cx="1609344" cy="1554480"/>
            <a:chOff x="8183880" y="2651760"/>
            <a:chExt cx="1609344" cy="1554480"/>
          </a:xfrm>
        </p:grpSpPr>
        <p:pic>
          <p:nvPicPr>
            <p:cNvPr id="42" name="_x391535976" descr="EMB0000859468a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8744" y="2712243"/>
              <a:ext cx="1501775" cy="1433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직사각형 42"/>
            <p:cNvSpPr/>
            <p:nvPr/>
          </p:nvSpPr>
          <p:spPr>
            <a:xfrm>
              <a:off x="8183880" y="2651760"/>
              <a:ext cx="1609344" cy="1554480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3996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02161" y="719763"/>
            <a:ext cx="3329175" cy="5965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설계된 시스템 구성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558086" y="777772"/>
            <a:ext cx="3291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2. 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화면 구성 </a:t>
            </a:r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– </a:t>
            </a:r>
            <a:r>
              <a:rPr lang="en-US" altLang="ko-KR" sz="20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Form2</a:t>
            </a:r>
            <a:endParaRPr lang="ko-KR" altLang="en-US" sz="20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06081" y="-188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391536192" descr="EMB0000859468a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087" y="1558131"/>
            <a:ext cx="3679825" cy="374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그룹 17"/>
          <p:cNvGrpSpPr/>
          <p:nvPr/>
        </p:nvGrpSpPr>
        <p:grpSpPr>
          <a:xfrm>
            <a:off x="4325112" y="1874520"/>
            <a:ext cx="7296912" cy="2807208"/>
            <a:chOff x="4325112" y="1874520"/>
            <a:chExt cx="7296912" cy="2807208"/>
          </a:xfrm>
        </p:grpSpPr>
        <p:sp>
          <p:nvSpPr>
            <p:cNvPr id="19" name="직사각형 18"/>
            <p:cNvSpPr/>
            <p:nvPr/>
          </p:nvSpPr>
          <p:spPr>
            <a:xfrm>
              <a:off x="8174736" y="1900595"/>
              <a:ext cx="3447288" cy="16619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고른 메뉴를 확인하는 부분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Form1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의 </a:t>
              </a:r>
              <a:r>
                <a:rPr lang="en-US" altLang="ko-KR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ListView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내용을 연결하여 고른 메뉴가 무엇인지 다시 한 번 확인할 수 있도록 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>
              <a:off x="7854696" y="2185416"/>
              <a:ext cx="329184" cy="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/>
            <p:cNvSpPr/>
            <p:nvPr/>
          </p:nvSpPr>
          <p:spPr>
            <a:xfrm>
              <a:off x="4325112" y="1874520"/>
              <a:ext cx="3538728" cy="2807208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274320" y="4570643"/>
            <a:ext cx="5175504" cy="923330"/>
            <a:chOff x="274320" y="4570643"/>
            <a:chExt cx="5175504" cy="923330"/>
          </a:xfrm>
        </p:grpSpPr>
        <p:sp>
          <p:nvSpPr>
            <p:cNvPr id="23" name="직사각형 22"/>
            <p:cNvSpPr/>
            <p:nvPr/>
          </p:nvSpPr>
          <p:spPr>
            <a:xfrm>
              <a:off x="274320" y="4570643"/>
              <a:ext cx="377647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총액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Form1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에서와 마찬가지로 총액을 출력한다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  <p:cxnSp>
          <p:nvCxnSpPr>
            <p:cNvPr id="24" name="직선 화살표 연결선 23"/>
            <p:cNvCxnSpPr/>
            <p:nvPr/>
          </p:nvCxnSpPr>
          <p:spPr>
            <a:xfrm flipH="1">
              <a:off x="4041648" y="4855464"/>
              <a:ext cx="292608" cy="9144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/>
            <p:cNvSpPr/>
            <p:nvPr/>
          </p:nvSpPr>
          <p:spPr>
            <a:xfrm>
              <a:off x="4326636" y="4718304"/>
              <a:ext cx="1123188" cy="521208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824728" y="4681728"/>
            <a:ext cx="4014216" cy="1690069"/>
            <a:chOff x="5824728" y="4681728"/>
            <a:chExt cx="4014216" cy="1690069"/>
          </a:xfrm>
        </p:grpSpPr>
        <p:sp>
          <p:nvSpPr>
            <p:cNvPr id="27" name="직사각형 26"/>
            <p:cNvSpPr/>
            <p:nvPr/>
          </p:nvSpPr>
          <p:spPr>
            <a:xfrm>
              <a:off x="5824728" y="5448467"/>
              <a:ext cx="4014216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취소 버튼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결제창이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닫히며 다시 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Form1</a:t>
              </a: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으로 돌아간다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  <p:cxnSp>
          <p:nvCxnSpPr>
            <p:cNvPr id="28" name="직선 화살표 연결선 27"/>
            <p:cNvCxnSpPr>
              <a:stCxn id="29" idx="2"/>
            </p:cNvCxnSpPr>
            <p:nvPr/>
          </p:nvCxnSpPr>
          <p:spPr>
            <a:xfrm>
              <a:off x="6387846" y="5202936"/>
              <a:ext cx="3810" cy="329184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/>
            <p:cNvSpPr/>
            <p:nvPr/>
          </p:nvSpPr>
          <p:spPr>
            <a:xfrm>
              <a:off x="5890260" y="4681728"/>
              <a:ext cx="995172" cy="521208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6859524" y="4634651"/>
            <a:ext cx="5009388" cy="1292662"/>
            <a:chOff x="6859524" y="4634651"/>
            <a:chExt cx="5009388" cy="1292662"/>
          </a:xfrm>
        </p:grpSpPr>
        <p:sp>
          <p:nvSpPr>
            <p:cNvPr id="31" name="직사각형 30"/>
            <p:cNvSpPr/>
            <p:nvPr/>
          </p:nvSpPr>
          <p:spPr>
            <a:xfrm>
              <a:off x="8147304" y="4634651"/>
              <a:ext cx="3721608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50000"/>
                </a:lnSpc>
              </a:pPr>
              <a:r>
                <a:rPr lang="ko-KR" altLang="en-US" sz="2000" kern="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예스체" panose="020B0500000101010101" pitchFamily="50" charset="-127"/>
                  <a:ea typeface="예스체" panose="020B0500000101010101" pitchFamily="50" charset="-127"/>
                </a:rPr>
                <a:t>결제 버튼</a:t>
              </a:r>
              <a:endParaRPr lang="en-US" altLang="ko-KR" sz="20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endParaRPr>
            </a:p>
            <a:p>
              <a:pPr algn="just" fontAlgn="base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결제 버튼을 누르면 결제 창 메시지 박스가 출력된다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  <p:cxnSp>
          <p:nvCxnSpPr>
            <p:cNvPr id="32" name="직선 화살표 연결선 31"/>
            <p:cNvCxnSpPr>
              <a:stCxn id="33" idx="3"/>
            </p:cNvCxnSpPr>
            <p:nvPr/>
          </p:nvCxnSpPr>
          <p:spPr>
            <a:xfrm>
              <a:off x="7854696" y="4933188"/>
              <a:ext cx="320040" cy="4572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직사각형 32"/>
            <p:cNvSpPr/>
            <p:nvPr/>
          </p:nvSpPr>
          <p:spPr>
            <a:xfrm>
              <a:off x="6859524" y="4672584"/>
              <a:ext cx="995172" cy="521208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4" name="_x181657176" descr="EMB0000859468a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304" y="1554480"/>
            <a:ext cx="2270125" cy="1643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34"/>
          <p:cNvGrpSpPr/>
          <p:nvPr/>
        </p:nvGrpSpPr>
        <p:grpSpPr>
          <a:xfrm>
            <a:off x="9352788" y="1682496"/>
            <a:ext cx="2638997" cy="1512888"/>
            <a:chOff x="9352788" y="1682496"/>
            <a:chExt cx="2638997" cy="1512888"/>
          </a:xfrm>
        </p:grpSpPr>
        <p:pic>
          <p:nvPicPr>
            <p:cNvPr id="36" name="_x181656960" descr="EMB0000859468a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34472" y="1682496"/>
              <a:ext cx="1357313" cy="1512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직선 화살표 연결선 36"/>
            <p:cNvCxnSpPr/>
            <p:nvPr/>
          </p:nvCxnSpPr>
          <p:spPr>
            <a:xfrm>
              <a:off x="10265664" y="2927604"/>
              <a:ext cx="377952" cy="7620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/>
            <p:cNvSpPr/>
            <p:nvPr/>
          </p:nvSpPr>
          <p:spPr>
            <a:xfrm>
              <a:off x="9352788" y="2767584"/>
              <a:ext cx="906780" cy="341376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8420100" y="2767584"/>
            <a:ext cx="3608261" cy="2174304"/>
            <a:chOff x="8420100" y="2767584"/>
            <a:chExt cx="3608261" cy="2174304"/>
          </a:xfrm>
        </p:grpSpPr>
        <p:pic>
          <p:nvPicPr>
            <p:cNvPr id="40" name="_x181657464" descr="EMB0000859468a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71048" y="3429000"/>
              <a:ext cx="1357313" cy="1512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직사각형 40"/>
            <p:cNvSpPr/>
            <p:nvPr/>
          </p:nvSpPr>
          <p:spPr>
            <a:xfrm>
              <a:off x="8420100" y="2767584"/>
              <a:ext cx="906780" cy="341376"/>
            </a:xfrm>
            <a:prstGeom prst="rect">
              <a:avLst/>
            </a:prstGeom>
            <a:noFill/>
            <a:ln w="3810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꺾인 연결선 41"/>
            <p:cNvCxnSpPr>
              <a:stCxn id="41" idx="2"/>
              <a:endCxn id="40" idx="1"/>
            </p:cNvCxnSpPr>
            <p:nvPr/>
          </p:nvCxnSpPr>
          <p:spPr>
            <a:xfrm rot="16200000" flipH="1">
              <a:off x="9234027" y="2748423"/>
              <a:ext cx="1076484" cy="1797558"/>
            </a:xfrm>
            <a:prstGeom prst="bentConnector2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7109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02161" y="719763"/>
            <a:ext cx="3329175" cy="5965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설계된 시스템 구성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558086" y="777772"/>
            <a:ext cx="3291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2. 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화면 구성 </a:t>
            </a:r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– </a:t>
            </a:r>
            <a:r>
              <a:rPr lang="en-US" altLang="ko-KR" sz="20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Form2</a:t>
            </a:r>
            <a:endParaRPr lang="ko-KR" altLang="en-US" sz="20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06081" y="-188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238744" y="24231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0634472" y="12252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0671048" y="297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80744" y="20812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3313" name="_x392167392" descr="EMB0000859468b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744" y="2538412"/>
            <a:ext cx="28797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3315" name="_x392168688" descr="EMB0000859468b2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488" y="2619375"/>
            <a:ext cx="540067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직사각형 26"/>
          <p:cNvSpPr/>
          <p:nvPr/>
        </p:nvSpPr>
        <p:spPr>
          <a:xfrm>
            <a:off x="4828032" y="4378619"/>
            <a:ext cx="58887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몇 번째 주문인지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주문한 메뉴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가격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개수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총액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그리고 주문 시간이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txt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파일에 추가된다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9599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02161" y="719763"/>
            <a:ext cx="5660895" cy="5965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설계된 시스템 구성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558086" y="777772"/>
            <a:ext cx="2659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3.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주요 알고리즘</a:t>
            </a:r>
            <a:endParaRPr lang="ko-KR" altLang="en-US" sz="20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06081" y="-188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238744" y="24231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0634472" y="12252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0671048" y="297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80744" y="20812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124712" y="12527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039112" y="103327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5361" name="_x392167968" descr="EMB0000859468b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0" y="1499681"/>
            <a:ext cx="3007679" cy="526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005072" y="106070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5363" name="_x392166816" descr="EMB0000859468b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846" y="1527111"/>
            <a:ext cx="26892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/>
          <p:cNvSpPr/>
          <p:nvPr/>
        </p:nvSpPr>
        <p:spPr>
          <a:xfrm>
            <a:off x="1007364" y="1459021"/>
            <a:ext cx="3465576" cy="1161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Form1 </a:t>
            </a:r>
          </a:p>
          <a:p>
            <a:pPr algn="just" fontAlgn="base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초기 화면 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알고리즘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120128" y="1541317"/>
            <a:ext cx="34655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Form2</a:t>
            </a:r>
          </a:p>
          <a:p>
            <a:pPr algn="just" fontAlgn="base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결제 창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 fontAlgn="base">
              <a:lnSpc>
                <a:spcPct val="150000"/>
              </a:lnSpc>
            </a:pP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알고리즘</a:t>
            </a:r>
            <a:endParaRPr lang="en-US" altLang="ko-KR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732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02161" y="719763"/>
            <a:ext cx="2222751" cy="59656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설계된 시스템 구성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558086" y="777772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1. 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주요 결과</a:t>
            </a:r>
            <a:endParaRPr lang="ko-KR" altLang="en-US" sz="20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06081" y="-188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238744" y="24231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0634472" y="12252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0671048" y="297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124712" y="12527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039112" y="103327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005072" y="106070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4179887" y="-2325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5" name="_x392167464" descr="EMB0000859468c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887" y="224631"/>
            <a:ext cx="3832225" cy="640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179887" y="22645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319587" y="11660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9" name="_x392166960" descr="EMB0000859468c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7" y="1623218"/>
            <a:ext cx="3552825" cy="361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132387" y="22748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91" name="_x392168040" descr="EMB0000859468c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387" y="2732087"/>
            <a:ext cx="1927225" cy="139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528468" y="23391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93" name="_x392167536" descr="EMB0000859468c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468" y="2796381"/>
            <a:ext cx="1135063" cy="126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3395662" y="-374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7" name="_x392167176" descr="EMB0000859468c1"/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887" y="5218080"/>
            <a:ext cx="3832225" cy="141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/>
          <p:cNvSpPr/>
          <p:nvPr/>
        </p:nvSpPr>
        <p:spPr>
          <a:xfrm>
            <a:off x="5102352" y="5283875"/>
            <a:ext cx="5888736" cy="422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ko-KR" altLang="en-US" sz="1600" dirty="0" err="1" smtClean="0">
                <a:solidFill>
                  <a:srgbClr val="FF0000"/>
                </a:solidFill>
              </a:rPr>
              <a:t>치즈스틱</a:t>
            </a:r>
            <a:r>
              <a:rPr lang="ko-KR" altLang="en-US" sz="1600" dirty="0" smtClean="0">
                <a:solidFill>
                  <a:srgbClr val="FF0000"/>
                </a:solidFill>
              </a:rPr>
              <a:t> 삭제 </a:t>
            </a:r>
            <a:r>
              <a:rPr lang="en-US" altLang="ko-KR" sz="1600" dirty="0" smtClean="0">
                <a:solidFill>
                  <a:srgbClr val="FF0000"/>
                </a:solidFill>
              </a:rPr>
              <a:t>-2200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16395" name="_x392167176" descr="EMB0000859468c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662" y="0"/>
            <a:ext cx="5400675" cy="669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630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/>
      <p:bldP spid="21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502161" y="719763"/>
            <a:ext cx="3279264" cy="59656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/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214030" y="184920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+mj-lt"/>
              <a:buAutoNum type="romanUcPeriod" startAt="3"/>
            </a:pPr>
            <a:r>
              <a:rPr lang="ko-KR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설계된 시스템 구성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78051-5D25-4C28-AF49-C76C1C625A61}"/>
              </a:ext>
            </a:extLst>
          </p:cNvPr>
          <p:cNvSpPr txBox="1"/>
          <p:nvPr/>
        </p:nvSpPr>
        <p:spPr>
          <a:xfrm>
            <a:off x="558086" y="777772"/>
            <a:ext cx="3289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2.  </a:t>
            </a:r>
            <a:r>
              <a:rPr lang="ko-KR" altLang="en-US" sz="2800" dirty="0" smtClean="0">
                <a:latin typeface="예스체" panose="020B0500000101010101" pitchFamily="50" charset="-127"/>
                <a:ea typeface="예스체" panose="020B0500000101010101" pitchFamily="50" charset="-127"/>
              </a:rPr>
              <a:t>계획 대비 완성 표</a:t>
            </a:r>
            <a:endParaRPr lang="ko-KR" altLang="en-US" sz="2000" dirty="0">
              <a:latin typeface="예스체" panose="020B0500000101010101" pitchFamily="50" charset="-127"/>
              <a:ea typeface="예스체" panose="020B0500000101010101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06081" y="-188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238744" y="24231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0634472" y="12252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124712" y="12527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039112" y="103327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005072" y="106070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4179887" y="-23256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179887" y="22645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132387" y="22748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528468" y="23391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3395662" y="-374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409" name="_x392167032" descr="EMB0000859468c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2" y="1604962"/>
            <a:ext cx="7953375" cy="486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301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700" y="3105834"/>
            <a:ext cx="2284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예스체" panose="020B0500000101010101" pitchFamily="50" charset="-127"/>
                <a:ea typeface="예스체" panose="020B0500000101010101" pitchFamily="50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192138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winterdrea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1345C"/>
      </a:accent1>
      <a:accent2>
        <a:srgbClr val="326393"/>
      </a:accent2>
      <a:accent3>
        <a:srgbClr val="6D8CAC"/>
      </a:accent3>
      <a:accent4>
        <a:srgbClr val="C9CACF"/>
      </a:accent4>
      <a:accent5>
        <a:srgbClr val="CAB5BD"/>
      </a:accent5>
      <a:accent6>
        <a:srgbClr val="F1ECE6"/>
      </a:accent6>
      <a:hlink>
        <a:srgbClr val="3F3F3F"/>
      </a:hlink>
      <a:folHlink>
        <a:srgbClr val="3F3F3F"/>
      </a:folHlink>
    </a:clrScheme>
    <a:fontScheme name="예스체">
      <a:majorFont>
        <a:latin typeface="예스체"/>
        <a:ea typeface="예스체"/>
        <a:cs typeface=""/>
      </a:majorFont>
      <a:minorFont>
        <a:latin typeface="예스체"/>
        <a:ea typeface="예스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399</Words>
  <Application>Microsoft Office PowerPoint</Application>
  <PresentationFormat>와이드스크린</PresentationFormat>
  <Paragraphs>70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맑은 고딕</vt:lpstr>
      <vt:lpstr>예스체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 새별</dc:creator>
  <cp:lastModifiedBy>user</cp:lastModifiedBy>
  <cp:revision>118</cp:revision>
  <dcterms:created xsi:type="dcterms:W3CDTF">2020-11-18T01:48:02Z</dcterms:created>
  <dcterms:modified xsi:type="dcterms:W3CDTF">2021-12-12T14:41:39Z</dcterms:modified>
</cp:coreProperties>
</file>